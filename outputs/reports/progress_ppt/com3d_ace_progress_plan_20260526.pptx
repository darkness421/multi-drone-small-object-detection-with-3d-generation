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2191999" cy="6858000" type="wide"/>
  <p:notesSz cx="6858000" cy="9144000"/>
  <p:defaultTextStyle>
    <a:defPPr>
      <a:defRPr lang="ko-KR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/Relationships>
</file>

<file path=ppt/slides/_rels/slide3.xml.rels><?xml version="1.0" encoding="UTF-8" standalone="yes"?><Relationships xmlns="http://schemas.openxmlformats.org/package/2006/relationships"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../media/image8.png"/></Relationships>
</file>

<file path=ppt/slides/_rels/slide14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ox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1001" name="TextBox"/>
          <p:cNvSpPr txBox="1"/>
          <p:nvPr/>
        </p:nvSpPr>
        <p:spPr>
          <a:xfrm>
            <a:off x="640080" y="502920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3400" dirty="0" b="1">
                <a:solidFill>
                  <a:srgbClr val="0F172A"/>
                </a:solidFill>
                <a:latin typeface="Aptos"/>
                <a:ea typeface="Malgun Gothic"/>
              </a:rPr>
              <a:t>CoM3D-ACE Progress &amp; Experiment Plan</a:t>
            </a:r>
          </a:p>
        </p:txBody>
      </p:sp>
      <p:sp>
        <p:nvSpPr>
          <p:cNvPr id="1002" name="TextBox"/>
          <p:cNvSpPr txBox="1"/>
          <p:nvPr/>
        </p:nvSpPr>
        <p:spPr>
          <a:xfrm>
            <a:off x="685800" y="12801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600" dirty="0" b="0">
                <a:solidFill>
                  <a:srgbClr val="475569"/>
                </a:solidFill>
                <a:latin typeface="Aptos"/>
                <a:ea typeface="Malgun Gothic"/>
              </a:rPr>
              <a:t>Multi-UAV MarineCity perception, 3D reconstruction, and LLM re-observation pipeline</a:t>
            </a:r>
          </a:p>
        </p:txBody>
      </p:sp>
      <p:sp>
        <p:nvSpPr>
          <p:cNvPr id="1003" name="TextBox"/>
          <p:cNvSpPr txBox="1"/>
          <p:nvPr/>
        </p:nvSpPr>
        <p:spPr>
          <a:xfrm>
            <a:off x="685800" y="2057400"/>
            <a:ext cx="5212080" cy="1508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600" dirty="0" b="0">
                <a:solidFill>
                  <a:srgbClr val="334155"/>
                </a:solidFill>
                <a:latin typeface="Aptos"/>
                <a:ea typeface="Malgun Gothic"/>
              </a:rPr>
              <a:t>Current state</a:t>
            </a:r>
          </a:p>
          <a:p>
            <a:pPr/>
            <a:r>
              <a:rPr lang="ko-KR" sz="1600" dirty="0" b="0">
                <a:solidFill>
                  <a:srgbClr val="334155"/>
                </a:solidFill>
                <a:latin typeface="Aptos"/>
                <a:ea typeface="Malgun Gothic"/>
              </a:rPr>
              <a:t>• VisDrone baseline sweep complete</a:t>
            </a:r>
          </a:p>
          <a:p>
            <a:pPr/>
            <a:r>
              <a:rPr lang="ko-KR" sz="1600" dirty="0" b="0">
                <a:solidFill>
                  <a:srgbClr val="334155"/>
                </a:solidFill>
                <a:latin typeface="Aptos"/>
                <a:ea typeface="Malgun Gothic"/>
              </a:rPr>
              <a:t>• Proposed detector ablation mostly complete</a:t>
            </a:r>
          </a:p>
          <a:p>
            <a:pPr/>
            <a:r>
              <a:rPr lang="ko-KR" sz="1600" dirty="0" b="0">
                <a:solidFill>
                  <a:srgbClr val="334155"/>
                </a:solidFill>
                <a:latin typeface="Aptos"/>
                <a:ea typeface="Malgun Gothic"/>
              </a:rPr>
              <a:t>• L-size YOLO comparison running</a:t>
            </a:r>
          </a:p>
          <a:p>
            <a:pPr/>
            <a:r>
              <a:rPr lang="ko-KR" sz="1600" dirty="0" b="0">
                <a:solidFill>
                  <a:srgbClr val="334155"/>
                </a:solidFill>
                <a:latin typeface="Aptos"/>
                <a:ea typeface="Malgun Gothic"/>
              </a:rPr>
              <a:t>• Windows Isaac benchmark prep ready</a:t>
            </a:r>
          </a:p>
        </p:txBody>
      </p:sp>
      <p:sp>
        <p:nvSpPr>
          <p:cNvPr id="1004" name="TextBox"/>
          <p:cNvSpPr txBox="1"/>
          <p:nvPr/>
        </p:nvSpPr>
        <p:spPr>
          <a:xfrm>
            <a:off x="6400800" y="2057400"/>
            <a:ext cx="4846320" cy="1508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600" dirty="0" b="0">
                <a:solidFill>
                  <a:srgbClr val="334155"/>
                </a:solidFill>
                <a:latin typeface="Aptos"/>
                <a:ea typeface="Malgun Gothic"/>
              </a:rPr>
              <a:t>Next focus</a:t>
            </a:r>
          </a:p>
          <a:p>
            <a:pPr/>
            <a:r>
              <a:rPr lang="ko-KR" sz="1600" dirty="0" b="0">
                <a:solidFill>
                  <a:srgbClr val="334155"/>
                </a:solidFill>
                <a:latin typeface="Aptos"/>
                <a:ea typeface="Malgun Gothic"/>
              </a:rPr>
              <a:t>• Add recent detector comparisons</a:t>
            </a:r>
          </a:p>
          <a:p>
            <a:pPr/>
            <a:r>
              <a:rPr lang="ko-KR" sz="1600" dirty="0" b="0">
                <a:solidFill>
                  <a:srgbClr val="334155"/>
                </a:solidFill>
                <a:latin typeface="Aptos"/>
                <a:ea typeface="Malgun Gothic"/>
              </a:rPr>
              <a:t>• Add fine-grained drone dataset</a:t>
            </a:r>
          </a:p>
          <a:p>
            <a:pPr/>
            <a:r>
              <a:rPr lang="ko-KR" sz="1600" dirty="0" b="0">
                <a:solidFill>
                  <a:srgbClr val="334155"/>
                </a:solidFill>
                <a:latin typeface="Aptos"/>
                <a:ea typeface="Malgun Gothic"/>
              </a:rPr>
              <a:t>• Start MarineCity Isaac export in early June</a:t>
            </a:r>
          </a:p>
          <a:p>
            <a:pPr/>
            <a:r>
              <a:rPr lang="ko-KR" sz="1600" dirty="0" b="0">
                <a:solidFill>
                  <a:srgbClr val="334155"/>
                </a:solidFill>
                <a:latin typeface="Aptos"/>
                <a:ea typeface="Malgun Gothic"/>
              </a:rPr>
              <a:t>• Run 3D generation + reasoner ablations</a:t>
            </a:r>
          </a:p>
        </p:txBody>
      </p:sp>
      <p:sp>
        <p:nvSpPr>
          <p:cNvPr id="1005" name="TextBox"/>
          <p:cNvSpPr txBox="1"/>
          <p:nvPr/>
        </p:nvSpPr>
        <p:spPr>
          <a:xfrm>
            <a:off x="685800" y="6172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000" dirty="0" b="0">
                <a:solidFill>
                  <a:srgbClr val="64748B"/>
                </a:solidFill>
                <a:latin typeface="Aptos"/>
                <a:ea typeface="Malgun Gothic"/>
              </a:rPr>
              <a:t>Generated: 2026-05-26 | Branch: server-baseline-pipeline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800" dirty="0" b="1">
                <a:solidFill>
                  <a:srgbClr val="0F172A"/>
                </a:solidFill>
                <a:latin typeface="Aptos"/>
                <a:ea typeface="Malgun Gothic"/>
              </a:rPr>
              <a:t>1. Executive Summary</a:t>
            </a:r>
          </a:p>
        </p:txBody>
      </p:sp>
      <p:sp>
        <p:nvSpPr>
          <p:cNvPr id="1001" name="TextBox"/>
          <p:cNvSpPr txBox="1"/>
          <p:nvPr/>
        </p:nvSpPr>
        <p:spPr>
          <a:xfrm>
            <a:off x="530352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200" dirty="0" b="0">
                <a:solidFill>
                  <a:srgbClr val="64748B"/>
                </a:solidFill>
                <a:latin typeface="Aptos"/>
                <a:ea typeface="Malgun Gothic"/>
              </a:rPr>
              <a:t>What is already stable and what still needs experiments</a:t>
            </a:r>
          </a:p>
        </p:txBody>
      </p:sp>
      <p:sp>
        <p:nvSpPr>
          <p:cNvPr id="1002" name="Lin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03" name="Box"/>
          <p:cNvSpPr/>
          <p:nvPr/>
        </p:nvSpPr>
        <p:spPr>
          <a:xfrm>
            <a:off x="594360" y="146304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004" name="TextBox"/>
          <p:cNvSpPr txBox="1"/>
          <p:nvPr/>
        </p:nvSpPr>
        <p:spPr>
          <a:xfrm>
            <a:off x="822960" y="162763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600" dirty="0" b="1">
                <a:solidFill>
                  <a:srgbClr val="1d4ed8"/>
                </a:solidFill>
                <a:latin typeface="Aptos"/>
                <a:ea typeface="Malgun Gothic"/>
              </a:rPr>
              <a:t>Detector evidence generator</a:t>
            </a:r>
          </a:p>
        </p:txBody>
      </p:sp>
      <p:sp>
        <p:nvSpPr>
          <p:cNvPr id="1005" name="TextBox"/>
          <p:cNvSpPr txBox="1"/>
          <p:nvPr/>
        </p:nvSpPr>
        <p:spPr>
          <a:xfrm>
            <a:off x="822960" y="2029968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300" dirty="0" b="0">
                <a:solidFill>
                  <a:srgbClr val="334155"/>
                </a:solidFill>
                <a:latin typeface="Aptos"/>
                <a:ea typeface="Malgun Gothic"/>
              </a:rPr>
              <a:t>VisDrone full comparison is established with seed repeats, p-values, dashboard, and model-size grouping.</a:t>
            </a:r>
          </a:p>
        </p:txBody>
      </p:sp>
      <p:sp>
        <p:nvSpPr>
          <p:cNvPr id="1006" name="Box"/>
          <p:cNvSpPr/>
          <p:nvPr/>
        </p:nvSpPr>
        <p:spPr>
          <a:xfrm>
            <a:off x="6263640" y="146304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007" name="TextBox"/>
          <p:cNvSpPr txBox="1"/>
          <p:nvPr/>
        </p:nvSpPr>
        <p:spPr>
          <a:xfrm>
            <a:off x="6492240" y="162763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600" dirty="0" b="1">
                <a:solidFill>
                  <a:srgbClr val="7c3aed"/>
                </a:solidFill>
                <a:latin typeface="Aptos"/>
                <a:ea typeface="Malgun Gothic"/>
              </a:rPr>
              <a:t>Proposed module</a:t>
            </a:r>
          </a:p>
        </p:txBody>
      </p:sp>
      <p:sp>
        <p:nvSpPr>
          <p:cNvPr id="1008" name="TextBox"/>
          <p:cNvSpPr txBox="1"/>
          <p:nvPr/>
        </p:nvSpPr>
        <p:spPr>
          <a:xfrm>
            <a:off x="6492240" y="2029968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300" dirty="0" b="0">
                <a:solidFill>
                  <a:srgbClr val="334155"/>
                </a:solidFill>
                <a:latin typeface="Aptos"/>
                <a:ea typeface="Malgun Gothic"/>
              </a:rPr>
              <a:t>YOLO11s-based ablations are running/completing: wavelet stem, SE, CBAM, partial deformable neck, full proposed.</a:t>
            </a:r>
          </a:p>
        </p:txBody>
      </p:sp>
      <p:sp>
        <p:nvSpPr>
          <p:cNvPr id="1009" name="Box"/>
          <p:cNvSpPr/>
          <p:nvPr/>
        </p:nvSpPr>
        <p:spPr>
          <a:xfrm>
            <a:off x="594360" y="352044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010" name="TextBox"/>
          <p:cNvSpPr txBox="1"/>
          <p:nvPr/>
        </p:nvSpPr>
        <p:spPr>
          <a:xfrm>
            <a:off x="822960" y="368503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600" dirty="0" b="1">
                <a:solidFill>
                  <a:srgbClr val="0f766e"/>
                </a:solidFill>
                <a:latin typeface="Aptos"/>
                <a:ea typeface="Malgun Gothic"/>
              </a:rPr>
              <a:t>Benchmark/system</a:t>
            </a:r>
          </a:p>
        </p:txBody>
      </p:sp>
      <p:sp>
        <p:nvSpPr>
          <p:cNvPr id="1011" name="TextBox"/>
          <p:cNvSpPr txBox="1"/>
          <p:nvPr/>
        </p:nvSpPr>
        <p:spPr>
          <a:xfrm>
            <a:off x="822960" y="4087368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300" dirty="0" b="0">
                <a:solidFill>
                  <a:srgbClr val="334155"/>
                </a:solidFill>
                <a:latin typeface="Aptos"/>
                <a:ea typeface="Malgun Gothic"/>
              </a:rPr>
              <a:t>Windows MarineCity Isaac dry-run now creates multi-UAV capture plan and 3D benchmark split.</a:t>
            </a:r>
          </a:p>
        </p:txBody>
      </p:sp>
      <p:sp>
        <p:nvSpPr>
          <p:cNvPr id="1012" name="Box"/>
          <p:cNvSpPr/>
          <p:nvPr/>
        </p:nvSpPr>
        <p:spPr>
          <a:xfrm>
            <a:off x="6263640" y="352044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013" name="TextBox"/>
          <p:cNvSpPr txBox="1"/>
          <p:nvPr/>
        </p:nvSpPr>
        <p:spPr>
          <a:xfrm>
            <a:off x="6492240" y="368503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600" dirty="0" b="1">
                <a:solidFill>
                  <a:srgbClr val="d97706"/>
                </a:solidFill>
                <a:latin typeface="Aptos"/>
                <a:ea typeface="Malgun Gothic"/>
              </a:rPr>
              <a:t>Paper path</a:t>
            </a:r>
          </a:p>
        </p:txBody>
      </p:sp>
      <p:sp>
        <p:nvSpPr>
          <p:cNvPr id="1014" name="TextBox"/>
          <p:cNvSpPr txBox="1"/>
          <p:nvPr/>
        </p:nvSpPr>
        <p:spPr>
          <a:xfrm>
            <a:off x="6492240" y="4087368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300" dirty="0" b="0">
                <a:solidFill>
                  <a:srgbClr val="334155"/>
                </a:solidFill>
                <a:latin typeface="Aptos"/>
                <a:ea typeface="Malgun Gothic"/>
              </a:rPr>
              <a:t>Detector table + MarineCity system experiment can support a full paper, not just a detector paper.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800" dirty="0" b="1">
                <a:solidFill>
                  <a:srgbClr val="0F172A"/>
                </a:solidFill>
                <a:latin typeface="Aptos"/>
                <a:ea typeface="Malgun Gothic"/>
              </a:rPr>
              <a:t>2. Current Server Status</a:t>
            </a:r>
          </a:p>
        </p:txBody>
      </p:sp>
      <p:sp>
        <p:nvSpPr>
          <p:cNvPr id="1001" name="TextBox"/>
          <p:cNvSpPr txBox="1"/>
          <p:nvPr/>
        </p:nvSpPr>
        <p:spPr>
          <a:xfrm>
            <a:off x="530352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200" dirty="0" b="0">
                <a:solidFill>
                  <a:srgbClr val="64748B"/>
                </a:solidFill>
                <a:latin typeface="Aptos"/>
                <a:ea typeface="Malgun Gothic"/>
              </a:rPr>
              <a:t>Live detector training is continuing while this deck is generated</a:t>
            </a:r>
          </a:p>
        </p:txBody>
      </p:sp>
      <p:sp>
        <p:nvSpPr>
          <p:cNvPr id="1002" name="Lin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03" name="TextBox"/>
          <p:cNvSpPr txBox="1"/>
          <p:nvPr/>
        </p:nvSpPr>
        <p:spPr>
          <a:xfrm>
            <a:off x="685800" y="1417320"/>
            <a:ext cx="10972800" cy="2926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Active tmux sessions: server-large-comparison, server-baseline-monitor, server-live-viewer, server-training-dual-view</a:t>
            </a:r>
          </a:p>
          <a:p>
            <a:pPr marL="285750" indent="-171450">
              <a:buChar char="•"/>
            </a:pPr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Current GPU state: GPU0 active for large comparison; GPU1 intentionally idle/low-use due prior CUDA allocation issue</a:t>
            </a:r>
          </a:p>
          <a:p>
            <a:pPr marL="285750" indent="-171450">
              <a:buChar char="•"/>
            </a:pPr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Large comparison currently running: YOLOv8l family queue, batch=2, imgsz=1280, epochs=100</a:t>
            </a:r>
          </a:p>
          <a:p>
            <a:pPr marL="285750" indent="-171450">
              <a:buChar char="•"/>
            </a:pPr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Completed detector baseline table: 15 models / 45 seed runs on VisDrone</a:t>
            </a:r>
          </a:p>
          <a:p>
            <a:pPr marL="285750" indent="-171450">
              <a:buChar char="•"/>
            </a:pPr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MarineCity Windows dry-run: 36 planned frames across 4 scenes, weather, altitude, and view-angle splits</a:t>
            </a:r>
          </a:p>
        </p:txBody>
      </p:sp>
      <p:sp>
        <p:nvSpPr>
          <p:cNvPr id="1004" name="TextBox"/>
          <p:cNvSpPr txBox="1"/>
          <p:nvPr/>
        </p:nvSpPr>
        <p:spPr>
          <a:xfrm>
            <a:off x="685800" y="4709160"/>
            <a:ext cx="530352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txBody>
          <a:bodyPr wrap="square"/>
          <a:lstStyle/>
          <a:p>
            <a:pPr/>
            <a:r>
              <a:rPr lang="ko-KR" sz="1400" dirty="0" b="0">
                <a:solidFill>
                  <a:srgbClr val="0F172A"/>
                </a:solidFill>
                <a:latin typeface="Aptos"/>
                <a:ea typeface="Malgun Gothic"/>
              </a:rPr>
              <a:t>Monitoring commands</a:t>
            </a:r>
          </a:p>
          <a:p>
            <a:pPr/>
            <a:r>
              <a:rPr lang="ko-KR" sz="1400" dirty="0" b="0">
                <a:solidFill>
                  <a:srgbClr val="0F172A"/>
                </a:solidFill>
                <a:latin typeface="Aptos"/>
                <a:ea typeface="Malgun Gothic"/>
              </a:rPr>
              <a:t>tmux attach -t server-training-dual-view</a:t>
            </a:r>
          </a:p>
          <a:p>
            <a:pPr/>
            <a:r>
              <a:rPr lang="ko-KR" sz="1400" dirty="0" b="0">
                <a:solidFill>
                  <a:srgbClr val="0F172A"/>
                </a:solidFill>
                <a:latin typeface="Aptos"/>
                <a:ea typeface="Malgun Gothic"/>
              </a:rPr>
              <a:t>tmux attach -t server-large-comparison</a:t>
            </a:r>
          </a:p>
        </p:txBody>
      </p:sp>
      <p:sp>
        <p:nvSpPr>
          <p:cNvPr id="1005" name="TextBox"/>
          <p:cNvSpPr txBox="1"/>
          <p:nvPr/>
        </p:nvSpPr>
        <p:spPr>
          <a:xfrm>
            <a:off x="6309360" y="4709160"/>
            <a:ext cx="516636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txBody>
          <a:bodyPr wrap="square"/>
          <a:lstStyle/>
          <a:p>
            <a:pPr/>
            <a:r>
              <a:rPr lang="ko-KR" sz="1400" dirty="0" b="0">
                <a:solidFill>
                  <a:srgbClr val="0F172A"/>
                </a:solidFill>
                <a:latin typeface="Aptos"/>
                <a:ea typeface="Malgun Gothic"/>
              </a:rPr>
              <a:t>Browser viewer</a:t>
            </a:r>
          </a:p>
          <a:p>
            <a:pPr/>
            <a:r>
              <a:rPr lang="ko-KR" sz="1400" dirty="0" b="0">
                <a:solidFill>
                  <a:srgbClr val="0F172A"/>
                </a:solidFill>
                <a:latin typeface="Aptos"/>
                <a:ea typeface="Malgun Gothic"/>
              </a:rPr>
              <a:t>http://192.168.0.103:8766/</a:t>
            </a:r>
          </a:p>
          <a:p>
            <a:pPr/>
            <a:r>
              <a:rPr lang="ko-KR" sz="1400" dirty="0" b="0">
                <a:solidFill>
                  <a:srgbClr val="0F172A"/>
                </a:solidFill>
                <a:latin typeface="Aptos"/>
                <a:ea typeface="Malgun Gothic"/>
              </a:rPr>
              <a:t>Large queue outputs update live CSV/dashboard.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800" dirty="0" b="1">
                <a:solidFill>
                  <a:srgbClr val="0F172A"/>
                </a:solidFill>
                <a:latin typeface="Aptos"/>
                <a:ea typeface="Malgun Gothic"/>
              </a:rPr>
              <a:t>3. VisDrone Baseline Results</a:t>
            </a:r>
          </a:p>
        </p:txBody>
      </p:sp>
      <p:sp>
        <p:nvSpPr>
          <p:cNvPr id="1001" name="TextBox"/>
          <p:cNvSpPr txBox="1"/>
          <p:nvPr/>
        </p:nvSpPr>
        <p:spPr>
          <a:xfrm>
            <a:off x="530352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200" dirty="0" b="0">
                <a:solidFill>
                  <a:srgbClr val="64748B"/>
                </a:solidFill>
                <a:latin typeface="Aptos"/>
                <a:ea typeface="Malgun Gothic"/>
              </a:rPr>
              <a:t>YOLO size sweep and RT-DETR anchor, sorted by AP50-95</a:t>
            </a:r>
          </a:p>
        </p:txBody>
      </p:sp>
      <p:sp>
        <p:nvSpPr>
          <p:cNvPr id="1002" name="Lin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pic>
        <p:nvPicPr>
          <p:cNvPr id="1003" name="baseline_top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111556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800" dirty="0" b="1">
                <a:solidFill>
                  <a:srgbClr val="0F172A"/>
                </a:solidFill>
                <a:latin typeface="Aptos"/>
                <a:ea typeface="Malgun Gothic"/>
              </a:rPr>
              <a:t>4. Baseline Takeaways</a:t>
            </a:r>
          </a:p>
        </p:txBody>
      </p:sp>
      <p:sp>
        <p:nvSpPr>
          <p:cNvPr id="1001" name="TextBox"/>
          <p:cNvSpPr txBox="1"/>
          <p:nvPr/>
        </p:nvSpPr>
        <p:spPr>
          <a:xfrm>
            <a:off x="530352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200" dirty="0" b="0">
                <a:solidFill>
                  <a:srgbClr val="64748B"/>
                </a:solidFill>
                <a:latin typeface="Aptos"/>
                <a:ea typeface="Malgun Gothic"/>
              </a:rPr>
              <a:t>What the detector table currently says</a:t>
            </a:r>
          </a:p>
        </p:txBody>
      </p:sp>
      <p:sp>
        <p:nvSpPr>
          <p:cNvPr id="1002" name="Lin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03" name="TextBox"/>
          <p:cNvSpPr txBox="1"/>
          <p:nvPr/>
        </p:nvSpPr>
        <p:spPr>
          <a:xfrm>
            <a:off x="685800" y="1325880"/>
            <a:ext cx="5669280" cy="4480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1. YOLOv12m: AP 0.367, AP50 0.585, F1 0.613, 20.1M params</a:t>
            </a:r>
          </a:p>
          <a:p>
            <a:pPr/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2. YOLOv10m: AP 0.354, AP50 0.567, F1 0.597, 16.5M params</a:t>
            </a:r>
          </a:p>
          <a:p>
            <a:pPr/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3. YOLOv9s: AP 0.343, AP50 0.554, F1 0.587, 7.3M params</a:t>
            </a:r>
          </a:p>
          <a:p>
            <a:pPr/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4. YOLOv8s: AP 0.333, AP50 0.540, F1 0.577, 11.1M params</a:t>
            </a:r>
          </a:p>
          <a:p>
            <a:pPr/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5. YOLOv12s: AP 0.332, AP50 0.539, F1 0.575, 9.3M params</a:t>
            </a:r>
          </a:p>
          <a:p>
            <a:pPr/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6. YOLOv5su: AP 0.328, AP50 0.533, F1 0.570, 9.1M params</a:t>
            </a:r>
          </a:p>
        </p:txBody>
      </p:sp>
      <p:sp>
        <p:nvSpPr>
          <p:cNvPr id="1004" name="TextBox"/>
          <p:cNvSpPr txBox="1"/>
          <p:nvPr/>
        </p:nvSpPr>
        <p:spPr>
          <a:xfrm>
            <a:off x="6629400" y="1325880"/>
            <a:ext cx="480060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pPr/>
            <a:r>
              <a:rPr lang="ko-KR" sz="1800" dirty="0" b="1">
                <a:solidFill>
                  <a:srgbClr val="0F172A"/>
                </a:solidFill>
                <a:latin typeface="Aptos"/>
                <a:ea typeface="Malgun Gothic"/>
              </a:rPr>
              <a:t>Current best overall</a:t>
            </a:r>
          </a:p>
          <a:p>
            <a:pPr/>
            <a:r>
              <a:rPr lang="ko-KR" sz="1800" dirty="0" b="1">
                <a:solidFill>
                  <a:srgbClr val="0F172A"/>
                </a:solidFill>
                <a:latin typeface="Aptos"/>
                <a:ea typeface="Malgun Gothic"/>
              </a:rPr>
              <a:t>YOLOv12m: AP 0.367 / AP50 0.585</a:t>
            </a:r>
          </a:p>
        </p:txBody>
      </p:sp>
      <p:sp>
        <p:nvSpPr>
          <p:cNvPr id="1005" name="TextBox"/>
          <p:cNvSpPr txBox="1"/>
          <p:nvPr/>
        </p:nvSpPr>
        <p:spPr>
          <a:xfrm>
            <a:off x="6629400" y="2788920"/>
            <a:ext cx="4800600" cy="11887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/>
          <a:lstStyle/>
          <a:p>
            <a:pPr/>
            <a:r>
              <a:rPr lang="ko-KR" sz="1800" dirty="0" b="1">
                <a:solidFill>
                  <a:srgbClr val="0F172A"/>
                </a:solidFill>
                <a:latin typeface="Aptos"/>
                <a:ea typeface="Malgun Gothic"/>
              </a:rPr>
              <a:t>Current best lightweight</a:t>
            </a:r>
          </a:p>
          <a:p>
            <a:pPr/>
            <a:r>
              <a:rPr lang="ko-KR" sz="1800" dirty="0" b="1">
                <a:solidFill>
                  <a:srgbClr val="0F172A"/>
                </a:solidFill>
                <a:latin typeface="Aptos"/>
                <a:ea typeface="Malgun Gothic"/>
              </a:rPr>
              <a:t>YOLOv9s: AP 0.343 / AP50 0.554</a:t>
            </a:r>
          </a:p>
        </p:txBody>
      </p:sp>
      <p:sp>
        <p:nvSpPr>
          <p:cNvPr id="1006" name="TextBox"/>
          <p:cNvSpPr txBox="1"/>
          <p:nvPr/>
        </p:nvSpPr>
        <p:spPr>
          <a:xfrm>
            <a:off x="6629400" y="4251960"/>
            <a:ext cx="4800600" cy="11887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/>
          <a:lstStyle/>
          <a:p>
            <a:pPr/>
            <a:r>
              <a:rPr lang="ko-KR" sz="1800" dirty="0" b="1">
                <a:solidFill>
                  <a:srgbClr val="0F172A"/>
                </a:solidFill>
                <a:latin typeface="Aptos"/>
                <a:ea typeface="Malgun Gothic"/>
              </a:rPr>
              <a:t>Large anchor in progress</a:t>
            </a:r>
          </a:p>
          <a:p>
            <a:pPr/>
            <a:r>
              <a:rPr lang="ko-KR" sz="1800" dirty="0" b="1">
                <a:solidFill>
                  <a:srgbClr val="0F172A"/>
                </a:solidFill>
                <a:latin typeface="Aptos"/>
                <a:ea typeface="Malgun Gothic"/>
              </a:rPr>
              <a:t>YOLOv8l first seed already AP about 0.377 live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800" dirty="0" b="1">
                <a:solidFill>
                  <a:srgbClr val="0F172A"/>
                </a:solidFill>
                <a:latin typeface="Aptos"/>
                <a:ea typeface="Malgun Gothic"/>
              </a:rPr>
              <a:t>5. Proposed Detector Ablation</a:t>
            </a:r>
          </a:p>
        </p:txBody>
      </p:sp>
      <p:sp>
        <p:nvSpPr>
          <p:cNvPr id="1001" name="TextBox"/>
          <p:cNvSpPr txBox="1"/>
          <p:nvPr/>
        </p:nvSpPr>
        <p:spPr>
          <a:xfrm>
            <a:off x="530352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200" dirty="0" b="0">
                <a:solidFill>
                  <a:srgbClr val="64748B"/>
                </a:solidFill>
                <a:latin typeface="Aptos"/>
                <a:ea typeface="Malgun Gothic"/>
              </a:rPr>
              <a:t>Completed runs so far; remaining full variants still matter</a:t>
            </a:r>
          </a:p>
        </p:txBody>
      </p:sp>
      <p:sp>
        <p:nvSpPr>
          <p:cNvPr id="1002" name="Lin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pic>
        <p:nvPicPr>
          <p:cNvPr id="1003" name="proposed_ab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10881360" cy="4389120"/>
          </a:xfrm>
          <a:prstGeom prst="rect">
            <a:avLst/>
          </a:prstGeom>
        </p:spPr>
      </p:pic>
      <p:sp>
        <p:nvSpPr>
          <p:cNvPr id="1004" name="TextBox"/>
          <p:cNvSpPr txBox="1"/>
          <p:nvPr/>
        </p:nvSpPr>
        <p:spPr>
          <a:xfrm>
            <a:off x="731520" y="571500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300" dirty="0" b="0">
                <a:solidFill>
                  <a:srgbClr val="475569"/>
                </a:solidFill>
                <a:latin typeface="Aptos"/>
                <a:ea typeface="Malgun Gothic"/>
              </a:rPr>
              <a:t>Interpretation: early single-module ablations are near YOLO11s control; CBAM and partial-deformable variants are the variants to watch before deciding the final proposed detector.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800" dirty="0" b="1">
                <a:solidFill>
                  <a:srgbClr val="0F172A"/>
                </a:solidFill>
                <a:latin typeface="Aptos"/>
                <a:ea typeface="Malgun Gothic"/>
              </a:rPr>
              <a:t>6. Proposed System Figure</a:t>
            </a:r>
          </a:p>
        </p:txBody>
      </p:sp>
      <p:sp>
        <p:nvSpPr>
          <p:cNvPr id="1001" name="TextBox"/>
          <p:cNvSpPr txBox="1"/>
          <p:nvPr/>
        </p:nvSpPr>
        <p:spPr>
          <a:xfrm>
            <a:off x="530352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200" dirty="0" b="0">
                <a:solidFill>
                  <a:srgbClr val="64748B"/>
                </a:solidFill>
                <a:latin typeface="Aptos"/>
                <a:ea typeface="Malgun Gothic"/>
              </a:rPr>
              <a:t>Overall CoM3D-ACE: detector evidence, 3D reconstruction, graph reasoning, LLM decision, re-observation</a:t>
            </a:r>
          </a:p>
        </p:txBody>
      </p:sp>
      <p:sp>
        <p:nvSpPr>
          <p:cNvPr id="1002" name="Lin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pic>
        <p:nvPicPr>
          <p:cNvPr id="1003" name="fig01_overall_frame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3564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800" dirty="0" b="1">
                <a:solidFill>
                  <a:srgbClr val="0F172A"/>
                </a:solidFill>
                <a:latin typeface="Aptos"/>
                <a:ea typeface="Malgun Gothic"/>
              </a:rPr>
              <a:t>7. Proposed Detector Module</a:t>
            </a:r>
          </a:p>
        </p:txBody>
      </p:sp>
      <p:sp>
        <p:nvSpPr>
          <p:cNvPr id="1001" name="TextBox"/>
          <p:cNvSpPr txBox="1"/>
          <p:nvPr/>
        </p:nvSpPr>
        <p:spPr>
          <a:xfrm>
            <a:off x="530352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200" dirty="0" b="0">
                <a:solidFill>
                  <a:srgbClr val="64748B"/>
                </a:solidFill>
                <a:latin typeface="Aptos"/>
                <a:ea typeface="Malgun Gothic"/>
              </a:rPr>
              <a:t>YOLO11 small-object perception module: wavelet/high-frequency stem, attention neck, partial deformable refinement</a:t>
            </a:r>
          </a:p>
        </p:txBody>
      </p:sp>
      <p:sp>
        <p:nvSpPr>
          <p:cNvPr id="1002" name="Lin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pic>
        <p:nvPicPr>
          <p:cNvPr id="1003" name="fig02_detector_modu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3564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800" dirty="0" b="1">
                <a:solidFill>
                  <a:srgbClr val="0F172A"/>
                </a:solidFill>
                <a:latin typeface="Aptos"/>
                <a:ea typeface="Malgun Gothic"/>
              </a:rPr>
              <a:t>8. MarineCity Multi-UAV Benchmark</a:t>
            </a:r>
          </a:p>
        </p:txBody>
      </p:sp>
      <p:sp>
        <p:nvSpPr>
          <p:cNvPr id="1001" name="TextBox"/>
          <p:cNvSpPr txBox="1"/>
          <p:nvPr/>
        </p:nvSpPr>
        <p:spPr>
          <a:xfrm>
            <a:off x="530352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200" dirty="0" b="0">
                <a:solidFill>
                  <a:srgbClr val="64748B"/>
                </a:solidFill>
                <a:latin typeface="Aptos"/>
                <a:ea typeface="Malgun Gothic"/>
              </a:rPr>
              <a:t>Isaac Sim/Cesium-style coastal city with synchronized multi-UAV RGB/depth/pose/bbox export</a:t>
            </a:r>
          </a:p>
        </p:txBody>
      </p:sp>
      <p:sp>
        <p:nvSpPr>
          <p:cNvPr id="1002" name="Lin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pic>
        <p:nvPicPr>
          <p:cNvPr id="1003" name="fig03_isaac_multiuav_bench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3564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800" dirty="0" b="1">
                <a:solidFill>
                  <a:srgbClr val="0F172A"/>
                </a:solidFill>
                <a:latin typeface="Aptos"/>
                <a:ea typeface="Malgun Gothic"/>
              </a:rPr>
              <a:t>9. Weather + 3D Reconstruction</a:t>
            </a:r>
          </a:p>
        </p:txBody>
      </p:sp>
      <p:sp>
        <p:nvSpPr>
          <p:cNvPr id="1001" name="TextBox"/>
          <p:cNvSpPr txBox="1"/>
          <p:nvPr/>
        </p:nvSpPr>
        <p:spPr>
          <a:xfrm>
            <a:off x="530352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200" dirty="0" b="0">
                <a:solidFill>
                  <a:srgbClr val="64748B"/>
                </a:solidFill>
                <a:latin typeface="Aptos"/>
                <a:ea typeface="Malgun Gothic"/>
              </a:rPr>
              <a:t>Rain/snow degradation, restoration path, NeRF/Instant-NGP/3DGS comparison, downstream detector metrics</a:t>
            </a:r>
          </a:p>
        </p:txBody>
      </p:sp>
      <p:sp>
        <p:nvSpPr>
          <p:cNvPr id="1002" name="Lin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pic>
        <p:nvPicPr>
          <p:cNvPr id="1003" name="fig04_3d_weather_reconstruc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3564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800" dirty="0" b="1">
                <a:solidFill>
                  <a:srgbClr val="0F172A"/>
                </a:solidFill>
                <a:latin typeface="Aptos"/>
                <a:ea typeface="Malgun Gothic"/>
              </a:rPr>
              <a:t>10. LLM Reasoner + Re-observation</a:t>
            </a:r>
          </a:p>
        </p:txBody>
      </p:sp>
      <p:sp>
        <p:nvSpPr>
          <p:cNvPr id="1001" name="TextBox"/>
          <p:cNvSpPr txBox="1"/>
          <p:nvPr/>
        </p:nvSpPr>
        <p:spPr>
          <a:xfrm>
            <a:off x="530352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200" dirty="0" b="0">
                <a:solidFill>
                  <a:srgbClr val="64748B"/>
                </a:solidFill>
                <a:latin typeface="Aptos"/>
                <a:ea typeface="Malgun Gothic"/>
              </a:rPr>
              <a:t>Ambiguity diagnosis, confidence calibration, and selecting which UAV/view should re-capture evidence</a:t>
            </a:r>
          </a:p>
        </p:txBody>
      </p:sp>
      <p:sp>
        <p:nvSpPr>
          <p:cNvPr id="1002" name="Lin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pic>
        <p:nvPicPr>
          <p:cNvPr id="1003" name="fig05_llm_reobservation_polic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3564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800" dirty="0" b="1">
                <a:solidFill>
                  <a:srgbClr val="0F172A"/>
                </a:solidFill>
                <a:latin typeface="Aptos"/>
                <a:ea typeface="Malgun Gothic"/>
              </a:rPr>
              <a:t>11. Dataset and Comparison Plan</a:t>
            </a:r>
          </a:p>
        </p:txBody>
      </p:sp>
      <p:sp>
        <p:nvSpPr>
          <p:cNvPr id="1001" name="TextBox"/>
          <p:cNvSpPr txBox="1"/>
          <p:nvPr/>
        </p:nvSpPr>
        <p:spPr>
          <a:xfrm>
            <a:off x="530352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200" dirty="0" b="0">
                <a:solidFill>
                  <a:srgbClr val="64748B"/>
                </a:solidFill>
                <a:latin typeface="Aptos"/>
                <a:ea typeface="Malgun Gothic"/>
              </a:rPr>
              <a:t>Use VisDrone as main detector benchmark; add fine-grained UAV dataset for stronger defense</a:t>
            </a:r>
          </a:p>
        </p:txBody>
      </p:sp>
      <p:sp>
        <p:nvSpPr>
          <p:cNvPr id="1002" name="Lin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03" name="TextBox"/>
          <p:cNvSpPr txBox="1"/>
          <p:nvPr/>
        </p:nvSpPr>
        <p:spPr>
          <a:xfrm>
            <a:off x="685800" y="141732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ko-KR" sz="1400" dirty="0" b="0">
                <a:solidFill>
                  <a:srgbClr val="334155"/>
                </a:solidFill>
                <a:latin typeface="Aptos"/>
                <a:ea typeface="Malgun Gothic"/>
              </a:rPr>
              <a:t>VisDrone2019-DET: full detector sweep, seed statistics, p-values, AP/AP50/Recall/F1/FPS/GFLOPs</a:t>
            </a:r>
          </a:p>
          <a:p>
            <a:pPr marL="285750" indent="-171450">
              <a:buChar char="•"/>
            </a:pPr>
            <a:r>
              <a:rPr lang="ko-KR" sz="1400" dirty="0" b="0">
                <a:solidFill>
                  <a:srgbClr val="334155"/>
                </a:solidFill>
                <a:latin typeface="Aptos"/>
                <a:ea typeface="Malgun Gothic"/>
              </a:rPr>
              <a:t>DroneVehicle: fine-grained UAV vehicle validation with selected models only</a:t>
            </a:r>
          </a:p>
          <a:p>
            <a:pPr marL="285750" indent="-171450">
              <a:buChar char="•"/>
            </a:pPr>
            <a:r>
              <a:rPr lang="ko-KR" sz="1400" dirty="0" b="0">
                <a:solidFill>
                  <a:srgbClr val="334155"/>
                </a:solidFill>
                <a:latin typeface="Aptos"/>
                <a:ea typeface="Malgun Gothic"/>
              </a:rPr>
              <a:t>MarineCity-Isaac: multi-UAV, multi-angle, 3D reconstruction, ambiguity/re-observation system benchmark</a:t>
            </a:r>
          </a:p>
          <a:p>
            <a:pPr marL="285750" indent="-171450">
              <a:buChar char="•"/>
            </a:pPr>
            <a:r>
              <a:rPr lang="ko-KR" sz="1400" dirty="0" b="0">
                <a:solidFill>
                  <a:srgbClr val="334155"/>
                </a:solidFill>
                <a:latin typeface="Aptos"/>
                <a:ea typeface="Malgun Gothic"/>
              </a:rPr>
              <a:t>Optional: AI-TOD-v2 for tiny-object robustness; HIT-UAV for thermal/low-light ambiguity</a:t>
            </a:r>
          </a:p>
        </p:txBody>
      </p:sp>
      <p:sp>
        <p:nvSpPr>
          <p:cNvPr id="1004" name="TextBox"/>
          <p:cNvSpPr txBox="1"/>
          <p:nvPr/>
        </p:nvSpPr>
        <p:spPr>
          <a:xfrm>
            <a:off x="6309360" y="1417320"/>
            <a:ext cx="52120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ko-KR" sz="1400" dirty="0" b="0">
                <a:solidFill>
                  <a:srgbClr val="334155"/>
                </a:solidFill>
                <a:latin typeface="Aptos"/>
                <a:ea typeface="Malgun Gothic"/>
              </a:rPr>
              <a:t>YOLO family: n/s/m/l grouped by model size</a:t>
            </a:r>
          </a:p>
          <a:p>
            <a:pPr marL="285750" indent="-171450">
              <a:buChar char="•"/>
            </a:pPr>
            <a:r>
              <a:rPr lang="ko-KR" sz="1400" dirty="0" b="0">
                <a:solidFill>
                  <a:srgbClr val="334155"/>
                </a:solidFill>
                <a:latin typeface="Aptos"/>
                <a:ea typeface="Malgun Gothic"/>
              </a:rPr>
              <a:t>Recent detectors: D-FINE, LW-DETR, RF-DETR, LRDS-YOLO or HF-D-FINE if reproducible</a:t>
            </a:r>
          </a:p>
          <a:p>
            <a:pPr marL="285750" indent="-171450">
              <a:buChar char="•"/>
            </a:pPr>
            <a:r>
              <a:rPr lang="ko-KR" sz="1400" dirty="0" b="0">
                <a:solidFill>
                  <a:srgbClr val="334155"/>
                </a:solidFill>
                <a:latin typeface="Aptos"/>
                <a:ea typeface="Malgun Gothic"/>
              </a:rPr>
              <a:t>Selected cross-dataset models: YOLOv9s, YOLOv12m, recent detector, ours</a:t>
            </a:r>
          </a:p>
          <a:p>
            <a:pPr marL="285750" indent="-171450">
              <a:buChar char="•"/>
            </a:pPr>
            <a:r>
              <a:rPr lang="ko-KR" sz="1400" dirty="0" b="0">
                <a:solidFill>
                  <a:srgbClr val="334155"/>
                </a:solidFill>
                <a:latin typeface="Aptos"/>
                <a:ea typeface="Malgun Gothic"/>
              </a:rPr>
              <a:t>Final proposed compared against best lightweight and best overall baseline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800" dirty="0" b="1">
                <a:solidFill>
                  <a:srgbClr val="0F172A"/>
                </a:solidFill>
                <a:latin typeface="Aptos"/>
                <a:ea typeface="Malgun Gothic"/>
              </a:rPr>
              <a:t>12. Windows Isaac Benchmark Preparation</a:t>
            </a:r>
          </a:p>
        </p:txBody>
      </p:sp>
      <p:sp>
        <p:nvSpPr>
          <p:cNvPr id="1001" name="TextBox"/>
          <p:cNvSpPr txBox="1"/>
          <p:nvPr/>
        </p:nvSpPr>
        <p:spPr>
          <a:xfrm>
            <a:off x="530352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200" dirty="0" b="0">
                <a:solidFill>
                  <a:srgbClr val="64748B"/>
                </a:solidFill>
                <a:latin typeface="Aptos"/>
                <a:ea typeface="Malgun Gothic"/>
              </a:rPr>
              <a:t>Ready for the user machine workflow</a:t>
            </a:r>
          </a:p>
        </p:txBody>
      </p:sp>
      <p:sp>
        <p:nvSpPr>
          <p:cNvPr id="1002" name="Lin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03" name="TextBox"/>
          <p:cNvSpPr txBox="1"/>
          <p:nvPr/>
        </p:nvSpPr>
        <p:spPr>
          <a:xfrm>
            <a:off x="731520" y="1325880"/>
            <a:ext cx="57607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pPr/>
            <a:r>
              <a:rPr lang="ko-KR" sz="1600" dirty="0" b="0">
                <a:solidFill>
                  <a:srgbClr val="334155"/>
                </a:solidFill>
                <a:latin typeface="Aptos"/>
                <a:ea typeface="Malgun Gothic"/>
              </a:rPr>
              <a:t>MarineCity dry-run manifest: 36 frames / 4 scenes</a:t>
            </a:r>
          </a:p>
          <a:p>
            <a:pPr/>
            <a:r>
              <a:rPr lang="ko-KR" sz="1600" dirty="0" b="0">
                <a:solidFill>
                  <a:srgbClr val="334155"/>
                </a:solidFill>
                <a:latin typeface="Aptos"/>
                <a:ea typeface="Malgun Gothic"/>
              </a:rPr>
              <a:t>Splits: train 24, val 9, test unseen angle 3</a:t>
            </a:r>
          </a:p>
          <a:p>
            <a:pPr/>
            <a:r>
              <a:rPr lang="ko-KR" sz="1600" dirty="0" b="0">
                <a:solidFill>
                  <a:srgbClr val="334155"/>
                </a:solidFill>
                <a:latin typeface="Aptos"/>
                <a:ea typeface="Malgun Gothic"/>
              </a:rPr>
              <a:t>Views: nadir, front oblique, side view, rear oblique</a:t>
            </a:r>
          </a:p>
          <a:p>
            <a:pPr/>
            <a:r>
              <a:rPr lang="ko-KR" sz="1600" dirty="0" b="0">
                <a:solidFill>
                  <a:srgbClr val="334155"/>
                </a:solidFill>
                <a:latin typeface="Aptos"/>
                <a:ea typeface="Malgun Gothic"/>
              </a:rPr>
              <a:t>Weather: clear / rain / snow; Altitudes: 60m / 100m / 150m</a:t>
            </a:r>
          </a:p>
        </p:txBody>
      </p:sp>
      <p:sp>
        <p:nvSpPr>
          <p:cNvPr id="1004" name="TextBox"/>
          <p:cNvSpPr txBox="1"/>
          <p:nvPr/>
        </p:nvSpPr>
        <p:spPr>
          <a:xfrm>
            <a:off x="6766560" y="1325880"/>
            <a:ext cx="4572000" cy="2286000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 wrap="square"/>
          <a:lstStyle/>
          <a:p>
            <a:pPr/>
            <a:r>
              <a:rPr lang="ko-KR" sz="1400" dirty="0" b="0">
                <a:solidFill>
                  <a:srgbClr val="0F172A"/>
                </a:solidFill>
                <a:latin typeface="Aptos"/>
                <a:ea typeface="Malgun Gothic"/>
              </a:rPr>
              <a:t>Windows commands</a:t>
            </a:r>
          </a:p>
          <a:p>
            <a:pPr/>
            <a:r>
              <a:rPr lang="ko-KR" sz="1400" dirty="0" b="0">
                <a:solidFill>
                  <a:srgbClr val="0F172A"/>
                </a:solidFill>
                <a:latin typeface="Aptos"/>
                <a:ea typeface="Malgun Gothic"/>
              </a:rPr>
              <a:t>scripts\25_prepare_marinecity_windows_benchmark.bat</a:t>
            </a:r>
          </a:p>
          <a:p>
            <a:pPr/>
            <a:r>
              <a:rPr lang="ko-KR" sz="1400" dirty="0" b="0">
                <a:solidFill>
                  <a:srgbClr val="0F172A"/>
                </a:solidFill>
                <a:latin typeface="Aptos"/>
                <a:ea typeface="Malgun Gothic"/>
              </a:rPr>
              <a:t/>
            </a:r>
          </a:p>
          <a:p>
            <a:pPr/>
            <a:r>
              <a:rPr lang="ko-KR" sz="1400" dirty="0" b="0">
                <a:solidFill>
                  <a:srgbClr val="0F172A"/>
                </a:solidFill>
                <a:latin typeface="Aptos"/>
                <a:ea typeface="Malgun Gothic"/>
              </a:rPr>
              <a:t>set ISAAC_ROOT=C:\path\to\isaacsim</a:t>
            </a:r>
          </a:p>
          <a:p>
            <a:pPr/>
            <a:r>
              <a:rPr lang="ko-KR" sz="1400" dirty="0" b="0">
                <a:solidFill>
                  <a:srgbClr val="0F172A"/>
                </a:solidFill>
                <a:latin typeface="Aptos"/>
                <a:ea typeface="Malgun Gothic"/>
              </a:rPr>
              <a:t>scripts\26_launch_isaac_marinecity_visible.bat</a:t>
            </a:r>
          </a:p>
        </p:txBody>
      </p:sp>
      <p:pic>
        <p:nvPicPr>
          <p:cNvPr id="1005" name="tim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069080"/>
            <a:ext cx="1088136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800" dirty="0" b="1">
                <a:solidFill>
                  <a:srgbClr val="0F172A"/>
                </a:solidFill>
                <a:latin typeface="Aptos"/>
                <a:ea typeface="Malgun Gothic"/>
              </a:rPr>
              <a:t>13. Future Experiment Roadmap</a:t>
            </a:r>
          </a:p>
        </p:txBody>
      </p:sp>
      <p:sp>
        <p:nvSpPr>
          <p:cNvPr id="1001" name="TextBox"/>
          <p:cNvSpPr txBox="1"/>
          <p:nvPr/>
        </p:nvSpPr>
        <p:spPr>
          <a:xfrm>
            <a:off x="530352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200" dirty="0" b="0">
                <a:solidFill>
                  <a:srgbClr val="64748B"/>
                </a:solidFill>
                <a:latin typeface="Aptos"/>
                <a:ea typeface="Malgun Gothic"/>
              </a:rPr>
              <a:t>Concrete order after current detector queues finish</a:t>
            </a:r>
          </a:p>
        </p:txBody>
      </p:sp>
      <p:sp>
        <p:nvSpPr>
          <p:cNvPr id="1002" name="Lin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03" name="TextBox"/>
          <p:cNvSpPr txBox="1"/>
          <p:nvPr/>
        </p:nvSpPr>
        <p:spPr>
          <a:xfrm>
            <a:off x="777240" y="1234440"/>
            <a:ext cx="10789920" cy="5120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Finish current L-size YOLO comparison; collect live large baseline report</a:t>
            </a:r>
          </a:p>
          <a:p>
            <a:pPr marL="285750" indent="-171450">
              <a:buChar char="•"/>
            </a:pPr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Collect proposed ablation results and choose final detector candidate</a:t>
            </a:r>
          </a:p>
          <a:p>
            <a:pPr marL="285750" indent="-171450">
              <a:buChar char="•"/>
            </a:pPr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Add recent detector comparison: D-FINE / LW-DETR / RF-DETR / UAV-specific model</a:t>
            </a:r>
          </a:p>
          <a:p>
            <a:pPr marL="285750" indent="-171450">
              <a:buChar char="•"/>
            </a:pPr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Prepare DroneVehicle selected-model experiment for fine-grained UAV vehicle validation</a:t>
            </a:r>
          </a:p>
          <a:p>
            <a:pPr marL="285750" indent="-171450">
              <a:buChar char="•"/>
            </a:pPr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Start Windows Isaac Sim MarineCity export smoke test, then real RGB/depth/pose capture</a:t>
            </a:r>
          </a:p>
          <a:p>
            <a:pPr marL="285750" indent="-171450">
              <a:buChar char="•"/>
            </a:pPr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Run 3D generation comparison: NeRF, Instant-NGP, Mip-NeRF 360, 3D Gaussian Splatting</a:t>
            </a:r>
          </a:p>
          <a:p>
            <a:pPr marL="285750" indent="-171450">
              <a:buChar char="•"/>
            </a:pPr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Run ambiguity scorer + LLM reasoner + re-observation ablation on MarineCity benchmark</a:t>
            </a:r>
          </a:p>
          <a:p>
            <a:pPr marL="285750" indent="-171450">
              <a:buChar char="•"/>
            </a:pPr>
            <a:r>
              <a:rPr lang="ko-KR" sz="1500" dirty="0" b="0">
                <a:solidFill>
                  <a:srgbClr val="334155"/>
                </a:solidFill>
                <a:latin typeface="Aptos"/>
                <a:ea typeface="Malgun Gothic"/>
              </a:rPr>
              <a:t>Freeze tables/figures and write paper from early June onward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3D">
  <a:themeElements>
    <a:clrScheme name="CoM3D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16A34A"/>
      </a:accent2>
      <a:accent3>
        <a:srgbClr val="F59E0B"/>
      </a:accent3>
      <a:accent4>
        <a:srgbClr val="8B5CF6"/>
      </a:accent4>
      <a:accent5>
        <a:srgbClr val="EF4444"/>
      </a:accent5>
      <a:accent6>
        <a:srgbClr val="14B8A6"/>
      </a:accent6>
      <a:hlink>
        <a:srgbClr val="2563EB"/>
      </a:hlink>
      <a:folHlink>
        <a:srgbClr val="7C3AED"/>
      </a:folHlink>
    </a:clrScheme>
    <a:fontScheme name="CoM3D">
      <a:majorFont>
        <a:latin typeface="Aptos Display"/>
        <a:ea typeface="Malgun Gothic"/>
        <a:cs typeface="Arial"/>
      </a:majorFont>
      <a:minorFont>
        <a:latin typeface="Aptos"/>
        <a:ea typeface="Malgun Gothic"/>
        <a:cs typeface="Arial"/>
      </a:minorFont>
    </a:fontScheme>
    <a:fmtScheme name="CoM3D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